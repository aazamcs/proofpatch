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03be40fc1a4879" /><Relationship Type="http://schemas.openxmlformats.org/officeDocument/2006/relationships/extended-properties" Target="/docProps/app.xml" Id="R7bc6889152a443d0" /><Relationship Type="http://schemas.openxmlformats.org/officeDocument/2006/relationships/officeDocument" Target="/ppt/presentation.xml" Id="R0d0f6dcfb3304c6f" /></Relationships>
</file>

<file path=ppt/presentation.xml><?xml version="1.0" encoding="utf-8"?>
<p:presentation xmlns:p="http://schemas.openxmlformats.org/presentationml/2006/main">
  <p:sldMasterIdLst>
    <p:sldMasterId xmlns:r="http://schemas.openxmlformats.org/officeDocument/2006/relationships" id="2147483648" r:id="R52cfa8cea94d44d6"/>
  </p:sldMasterIdLst>
  <p:notesMasterIdLst>
    <p:notesMasterId xmlns:r="http://schemas.openxmlformats.org/officeDocument/2006/relationships" r:id="R86df13fc1e204dcf"/>
  </p:notesMasterIdLst>
  <p:sldIdLst>
    <p:sldId xmlns:r="http://schemas.openxmlformats.org/officeDocument/2006/relationships" id="256" r:id="Rafa73d5ca00f42f6"/>
    <p:sldId xmlns:r="http://schemas.openxmlformats.org/officeDocument/2006/relationships" id="257" r:id="R754761769f394e95"/>
    <p:sldId xmlns:r="http://schemas.openxmlformats.org/officeDocument/2006/relationships" id="258" r:id="Rf89ded31b9b54ad0"/>
    <p:sldId xmlns:r="http://schemas.openxmlformats.org/officeDocument/2006/relationships" id="259" r:id="R38ff385e89eb49e1"/>
    <p:sldId xmlns:r="http://schemas.openxmlformats.org/officeDocument/2006/relationships" id="260" r:id="R7d98d157c0244eaf"/>
    <p:sldId xmlns:r="http://schemas.openxmlformats.org/officeDocument/2006/relationships" id="261" r:id="Rc1ea12140c014d4b"/>
    <p:sldId xmlns:r="http://schemas.openxmlformats.org/officeDocument/2006/relationships" id="262" r:id="R18e673a78dbb4c9e"/>
    <p:sldId xmlns:r="http://schemas.openxmlformats.org/officeDocument/2006/relationships" id="263" r:id="R5b7d9de4ac3e44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5bf28217524feb" /><Relationship Type="http://schemas.openxmlformats.org/officeDocument/2006/relationships/slideMaster" Target="/ppt/slideMasters/slideMaster1.xml" Id="R52cfa8cea94d44d6" /><Relationship Type="http://schemas.openxmlformats.org/officeDocument/2006/relationships/notesMaster" Target="/ppt/notesMasters/notesMaster1.xml" Id="R86df13fc1e204dcf" /><Relationship Type="http://schemas.openxmlformats.org/officeDocument/2006/relationships/presProps" Target="/ppt/presProps.xml" Id="Ra578d6516e1640ff" /><Relationship Type="http://schemas.openxmlformats.org/officeDocument/2006/relationships/tableStyles" Target="/ppt/tableStyles.xml" Id="R91479eb3ee9640ac" /><Relationship Type="http://schemas.openxmlformats.org/officeDocument/2006/relationships/slide" Target="/ppt/slides/slide1.xml" Id="Rafa73d5ca00f42f6" /><Relationship Type="http://schemas.openxmlformats.org/officeDocument/2006/relationships/slide" Target="/ppt/slides/slide2.xml" Id="R754761769f394e95" /><Relationship Type="http://schemas.openxmlformats.org/officeDocument/2006/relationships/slide" Target="/ppt/slides/slide3.xml" Id="Rf89ded31b9b54ad0" /><Relationship Type="http://schemas.openxmlformats.org/officeDocument/2006/relationships/slide" Target="/ppt/slides/slide4.xml" Id="R38ff385e89eb49e1" /><Relationship Type="http://schemas.openxmlformats.org/officeDocument/2006/relationships/slide" Target="/ppt/slides/slide5.xml" Id="R7d98d157c0244eaf" /><Relationship Type="http://schemas.openxmlformats.org/officeDocument/2006/relationships/slide" Target="/ppt/slides/slide6.xml" Id="Rc1ea12140c014d4b" /><Relationship Type="http://schemas.openxmlformats.org/officeDocument/2006/relationships/slide" Target="/ppt/slides/slide7.xml" Id="R18e673a78dbb4c9e" /><Relationship Type="http://schemas.openxmlformats.org/officeDocument/2006/relationships/slide" Target="/ppt/slides/slide8.xml" Id="R5b7d9de4ac3e44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2119e72e7e4c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b5ca51272f4947" /><Relationship Type="http://schemas.openxmlformats.org/officeDocument/2006/relationships/notesMaster" Target="/ppt/notesMasters/notesMaster1.xml" Id="R0f7b4939a07f4c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a41f4850ab4b81" /><Relationship Type="http://schemas.openxmlformats.org/officeDocument/2006/relationships/notesMaster" Target="/ppt/notesMasters/notesMaster1.xml" Id="R3a23cf8f187d4c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1cc7a7fb5c4050" /><Relationship Type="http://schemas.openxmlformats.org/officeDocument/2006/relationships/notesMaster" Target="/ppt/notesMasters/notesMaster1.xml" Id="R09a9d21ce41648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f461cb42c54dab" /><Relationship Type="http://schemas.openxmlformats.org/officeDocument/2006/relationships/notesMaster" Target="/ppt/notesMasters/notesMaster1.xml" Id="R9233711d3ddb49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8df33e63c5438c" /><Relationship Type="http://schemas.openxmlformats.org/officeDocument/2006/relationships/notesMaster" Target="/ppt/notesMasters/notesMaster1.xml" Id="Racc8975ea5624b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b41c5cb17649a3" /><Relationship Type="http://schemas.openxmlformats.org/officeDocument/2006/relationships/notesMaster" Target="/ppt/notesMasters/notesMaster1.xml" Id="Rbebb5c18369041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5594c5b062463f" /><Relationship Type="http://schemas.openxmlformats.org/officeDocument/2006/relationships/notesMaster" Target="/ppt/notesMasters/notesMaster1.xml" Id="R1cf6fa32133047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43f855bb2f4da9" /><Relationship Type="http://schemas.openxmlformats.org/officeDocument/2006/relationships/notesMaster" Target="/ppt/notesMasters/notesMaster1.xml" Id="R0ee7c89de12542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AI-generated fix can look right and still lose data. Before we ship, we need evidence it works. We built ProofPatch to make that evidence reproducible: show the original failure, test the repair against unchanged checks, and give reviewers a package they can rerun. Verification is scoped to the supplied suite; this is not a claim of universal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example is synthetic: eight task records and page size 3. Timestamp ties cause the timestamp-only baseline cursor to skip ID 4. The candidate uses (created_at, id). Source: sample/data/tasks.json and sample baseline/candidate pagination implementations.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.bob/skills/proofpatch/SKILL.md and PROVENANCE.md. Our development record distinguishes original Bob use from later local Codex-assisted hardening. Original session exports must accompany the submission separately; they are not yet included. The application executes independent verification without new model credits.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proofpatch/runner.py. Missing/changed protected tests, incomplete execution, errors and skips cannot earn verification. Current hashes are release content identifiers, not trusted timestamps or digital signatures. Human review and test coverage define the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evidence/verification/{baseline,candidate,bad_patch}-3.json and system-tests.xml. Baseline 17 pass/13 fail; candidate 30 pass/0 fail; wrong patch 8 pass/22 fail. All behavior runs cover page sizes 2,3,4; seven additional acceptance cases cover large exports, ordering, input preservation and termination. Tests/system also extracts and reruns an evidence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benefits, not measured customer or IBM outcomes. Developers can assemble evidence in one run; reviewers can inspect and rerun it. Governance teams can trace the review inputs; this is not compliance certification. End users benefit indirectly if teams catch faulty exports before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boundaries are qualitative; numeric TAM/SAM and pricing have not been validated. Existing tests, CI and coding assistants are complementary tools. Our differentiation is packaging original failure, preserved checks, repair result and exact rerunnable snapshots together. Repository adapters, CI integration and hosted multi-team history are future work. Core remains open; paid services are a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README.md for setup and evidence rerun instructions. The app supports one trusted bundled example; correctness is scoped to its suite. The public repository and application need publication/deployment as recorded in submission/CHECKLIST.md. Video narration is AI-generated using macOS Samantha; the project and script are presented by our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56b142a9f542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b1cb032a3a49eb" /><Relationship Type="http://schemas.openxmlformats.org/officeDocument/2006/relationships/slideLayout" Target="/ppt/slideLayouts/slideLayout1.xml" Id="R53eeb78ac31f44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eeb78ac31f44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7e16aa40ee466f" /><Relationship Type="http://schemas.openxmlformats.org/officeDocument/2006/relationships/notesSlide" Target="/ppt/notesSlides/notesSlide1.xml" Id="Rd09d066287da4f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cc93ae096a415f" /><Relationship Type="http://schemas.openxmlformats.org/officeDocument/2006/relationships/notesSlide" Target="/ppt/notesSlides/notesSlide2.xml" Id="Ra50ca59893864c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3b1ba81f9d49ee" /><Relationship Type="http://schemas.openxmlformats.org/officeDocument/2006/relationships/notesSlide" Target="/ppt/notesSlides/notesSlide3.xml" Id="R918fef6a97b84e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b6133cf7444d99" /><Relationship Type="http://schemas.openxmlformats.org/officeDocument/2006/relationships/notesSlide" Target="/ppt/notesSlides/notesSlide4.xml" Id="R87dd98beb33c4d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0effa8d01a4d51" /><Relationship Type="http://schemas.openxmlformats.org/officeDocument/2006/relationships/notesSlide" Target="/ppt/notesSlides/notesSlide5.xml" Id="R4f6f80296d144d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cdd035e8d943a0" /><Relationship Type="http://schemas.openxmlformats.org/officeDocument/2006/relationships/notesSlide" Target="/ppt/notesSlides/notesSlide6.xml" Id="Rd8bbfe1b2fc843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33dab93ccd24c20" /><Relationship Type="http://schemas.openxmlformats.org/officeDocument/2006/relationships/notesSlide" Target="/ppt/notesSlides/notesSlide7.xml" Id="R068f4423e3a443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deea6cf4664b98" /><Relationship Type="http://schemas.openxmlformats.org/officeDocument/2006/relationships/notesSlide" Target="/ppt/notesSlides/notesSlide8.xml" Id="Raf974f11df204d82" /></Relationships>
</file>

<file path=ppt/slides/slide1.xml><?xml version="1.0" encoding="utf-8"?>
<p:sld xmlns:p="http://schemas.openxmlformats.org/presentationml/2006/main">
  <p:cSld>
    <p:bg>
      <p:bgPr>
        <a:solidFill xmlns:a="http://schemas.openxmlformats.org/drawingml/2006/main">
          <a:srgbClr val="10131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97433C-86AD-41AB-8EE4-25612E5BD0D8}"/>
              </a:ext>
            </a:extLst>
          </p:cNvPr>
          <p:cNvSpPr>
            <a:spLocks xmlns:a="http://schemas.openxmlformats.org/drawingml/2006/main" noGrp="1"/>
          </p:cNvSpPr>
          <p:nvPr/>
        </p:nvSpPr>
        <p:spPr>
          <a:xfrm xmlns:a="http://schemas.openxmlformats.org/drawingml/2006/main">
            <a:off x="695325" y="5524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EDF1FF"/>
                </a:solidFill>
                <a:latin typeface="Helvetica Neue"/>
                <a:ea typeface="Helvetica Neue"/>
                <a:cs typeface="Helvetica Neue"/>
              </a:defRPr>
            </a:pPr>
            <a:r>
              <a:rPr sz="3675" b="1">
                <a:solidFill>
                  <a:srgbClr val="EDF1FF"/>
                </a:solidFill>
                <a:latin typeface="Helvetica Neue"/>
                <a:ea typeface="Helvetica Neue"/>
                <a:cs typeface="Helvetica Neue"/>
              </a:rPr>
              <a:t>ProofPatch</a:t>
            </a:r>
          </a:p>
        </p:txBody>
      </p:sp>
      <p:sp>
        <p:nvSpPr>
          <p:cNvPr id="2" name="">
            <a:extLst xmlns:a="http://schemas.openxmlformats.org/drawingml/2006/main">
              <a:ext uri="{FF2B5EF4-FFF2-40B4-BE49-F238E27FC236}">
                <a16:creationId xmlns:a16="http://schemas.microsoft.com/office/drawing/2014/main" id="{AE7C4CCF-B7F7-4F42-BD33-CDDF00B7A1AC}"/>
              </a:ext>
            </a:extLst>
          </p:cNvPr>
          <p:cNvSpPr>
            <a:spLocks xmlns:a="http://schemas.openxmlformats.org/drawingml/2006/main" noGrp="1"/>
          </p:cNvSpPr>
          <p:nvPr/>
        </p:nvSpPr>
        <p:spPr>
          <a:xfrm xmlns:a="http://schemas.openxmlformats.org/drawingml/2006/main">
            <a:off x="695325" y="1933575"/>
            <a:ext cx="10572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9BA8FF"/>
                </a:solidFill>
                <a:latin typeface="Helvetica Neue"/>
                <a:ea typeface="Helvetica Neue"/>
                <a:cs typeface="Helvetica Neue"/>
              </a:defRPr>
            </a:pPr>
            <a:r>
              <a:rPr sz="5700" b="1">
                <a:solidFill>
                  <a:srgbClr val="9BA8FF"/>
                </a:solidFill>
                <a:latin typeface="Helvetica Neue"/>
                <a:ea typeface="Helvetica Neue"/>
                <a:cs typeface="Helvetica Neue"/>
              </a:rPr>
              <a:t>Verify the fix.</a:t>
            </a:r>
          </a:p>
          <a:p xmlns:a="http://schemas.openxmlformats.org/drawingml/2006/main">
            <a:pPr>
              <a:defRPr sz="5700" b="1">
                <a:solidFill>
                  <a:srgbClr val="9BA8FF"/>
                </a:solidFill>
                <a:latin typeface="Helvetica Neue"/>
                <a:ea typeface="Helvetica Neue"/>
                <a:cs typeface="Helvetica Neue"/>
              </a:defRPr>
            </a:pPr>
            <a:r>
              <a:rPr sz="5700" b="1">
                <a:solidFill>
                  <a:srgbClr val="9BA8FF"/>
                </a:solidFill>
                <a:latin typeface="Helvetica Neue"/>
                <a:ea typeface="Helvetica Neue"/>
                <a:cs typeface="Helvetica Neue"/>
              </a:rPr>
              <a:t>Before you ship.</a:t>
            </a:r>
          </a:p>
        </p:txBody>
      </p:sp>
      <p:sp>
        <p:nvSpPr>
          <p:cNvPr id="3" name="">
            <a:extLst xmlns:a="http://schemas.openxmlformats.org/drawingml/2006/main">
              <a:ext uri="{FF2B5EF4-FFF2-40B4-BE49-F238E27FC236}">
                <a16:creationId xmlns:a16="http://schemas.microsoft.com/office/drawing/2014/main" id="{9D2967B1-C578-4CEC-9C8D-E8DD90BD9489}"/>
              </a:ext>
            </a:extLst>
          </p:cNvPr>
          <p:cNvSpPr>
            <a:spLocks xmlns:a="http://schemas.openxmlformats.org/drawingml/2006/main" noGrp="1"/>
          </p:cNvSpPr>
          <p:nvPr/>
        </p:nvSpPr>
        <p:spPr>
          <a:xfrm xmlns:a="http://schemas.openxmlformats.org/drawingml/2006/main">
            <a:off x="695325" y="43053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DF1FF"/>
                </a:solidFill>
                <a:latin typeface="Helvetica Neue"/>
                <a:ea typeface="Helvetica Neue"/>
                <a:cs typeface="Helvetica Neue"/>
              </a:defRPr>
            </a:pPr>
            <a:r>
              <a:rPr sz="2250" b="0">
                <a:solidFill>
                  <a:srgbClr val="EDF1FF"/>
                </a:solidFill>
                <a:latin typeface="Helvetica Neue"/>
                <a:ea typeface="Helvetica Neue"/>
                <a:cs typeface="Helvetica Neue"/>
              </a:rPr>
              <a:t>Reproducible verification for AI-assisted code repairs</a:t>
            </a:r>
          </a:p>
        </p:txBody>
      </p:sp>
      <p:sp>
        <p:nvSpPr>
          <p:cNvPr id="4" name="">
            <a:extLst xmlns:a="http://schemas.openxmlformats.org/drawingml/2006/main">
              <a:ext uri="{FF2B5EF4-FFF2-40B4-BE49-F238E27FC236}">
                <a16:creationId xmlns:a16="http://schemas.microsoft.com/office/drawing/2014/main" id="{DDCFC6E9-6749-43AB-BA5D-E4E22D954FB9}"/>
              </a:ext>
            </a:extLst>
          </p:cNvPr>
          <p:cNvSpPr>
            <a:spLocks xmlns:a="http://schemas.openxmlformats.org/drawingml/2006/main" noGrp="1"/>
          </p:cNvSpPr>
          <p:nvPr/>
        </p:nvSpPr>
        <p:spPr>
          <a:xfrm xmlns:a="http://schemas.openxmlformats.org/drawingml/2006/main">
            <a:off x="695325" y="52863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8C2DD"/>
                </a:solidFill>
                <a:latin typeface="Helvetica Neue"/>
                <a:ea typeface="Helvetica Neue"/>
                <a:cs typeface="Helvetica Neue"/>
              </a:defRPr>
            </a:pPr>
            <a:r>
              <a:rPr sz="1875" b="0">
                <a:solidFill>
                  <a:srgbClr val="B8C2DD"/>
                </a:solidFill>
                <a:latin typeface="Helvetica Neue"/>
                <a:ea typeface="Helvetica Neue"/>
                <a:cs typeface="Helvetica Neue"/>
              </a:rPr>
              <a:t>IBM Bob 2.0 Hackathon  ·  Fix bugs. Show proof.</a:t>
            </a:r>
          </a:p>
        </p:txBody>
      </p:sp>
      <p:sp>
        <p:nvSpPr>
          <p:cNvPr id="5" name="">
            <a:extLst xmlns:a="http://schemas.openxmlformats.org/drawingml/2006/main">
              <a:ext uri="{FF2B5EF4-FFF2-40B4-BE49-F238E27FC236}">
                <a16:creationId xmlns:a16="http://schemas.microsoft.com/office/drawing/2014/main" id="{AF1543FF-E5D9-40DF-A766-FE60301C970B}"/>
              </a:ext>
            </a:extLst>
          </p:cNvPr>
          <p:cNvSpPr>
            <a:spLocks xmlns:a="http://schemas.openxmlformats.org/drawingml/2006/main" noGrp="1"/>
          </p:cNvSpPr>
          <p:nvPr/>
        </p:nvSpPr>
        <p:spPr>
          <a:xfrm xmlns:a="http://schemas.openxmlformats.org/drawingml/2006/main">
            <a:off x="695325" y="596265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8C2DD"/>
                </a:solidFill>
                <a:latin typeface="Helvetica Neue"/>
                <a:ea typeface="Helvetica Neue"/>
                <a:cs typeface="Helvetica Neue"/>
              </a:defRPr>
            </a:pPr>
            <a:r>
              <a:rPr sz="1650" b="0">
                <a:solidFill>
                  <a:srgbClr val="B8C2DD"/>
                </a:solidFill>
                <a:latin typeface="Helvetica Neue"/>
                <a:ea typeface="Helvetica Neue"/>
                <a:cs typeface="Helvetica Neue"/>
              </a:rPr>
              <a:t>Mohammad Aazam  ·  Mirza Yasir Abdullah Baig  ·  Faza E Badar</a:t>
            </a:r>
          </a:p>
        </p:txBody>
      </p:sp>
    </p:spTree>
    <p:extLst>
      <p:ext uri="{BB962C8B-B14F-4D97-AF65-F5344CB8AC3E}">
        <p14:creationId xmlns:p14="http://schemas.microsoft.com/office/powerpoint/2010/main" val="1754540703"/>
      </p:ext>
    </p:extLst>
  </p:cSld>
</p:sld>
</file>

<file path=ppt/slides/slide2.xml><?xml version="1.0" encoding="utf-8"?>
<p:sld xmlns:p="http://schemas.openxmlformats.org/presentationml/2006/main">
  <p:cSld>
    <p:bg>
      <p:bgPr>
        <a:solidFill xmlns:a="http://schemas.openxmlformats.org/drawingml/2006/main">
          <a:srgbClr val="10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EF7073-945A-42DC-99A9-FC1BFE1083E4}"/>
              </a:ext>
            </a:extLst>
          </p:cNvPr>
          <p:cNvSpPr>
            <a:spLocks xmlns:a="http://schemas.openxmlformats.org/drawingml/2006/main" noGrp="1"/>
          </p:cNvSpPr>
          <p:nvPr/>
        </p:nvSpPr>
        <p:spPr>
          <a:xfrm xmlns:a="http://schemas.openxmlformats.org/drawingml/2006/main">
            <a:off x="666750" y="5524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EDF1FF"/>
                </a:solidFill>
                <a:latin typeface="Helvetica Neue"/>
                <a:ea typeface="Helvetica Neue"/>
                <a:cs typeface="Helvetica Neue"/>
              </a:defRPr>
            </a:pPr>
            <a:r>
              <a:rPr sz="3825" b="1">
                <a:solidFill>
                  <a:srgbClr val="EDF1FF"/>
                </a:solidFill>
                <a:latin typeface="Helvetica Neue"/>
                <a:ea typeface="Helvetica Neue"/>
                <a:cs typeface="Helvetica Neue"/>
              </a:rPr>
              <a:t>A missing record can go unnoticed</a:t>
            </a:r>
          </a:p>
        </p:txBody>
      </p:sp>
      <p:sp>
        <p:nvSpPr>
          <p:cNvPr id="2" name="">
            <a:extLst xmlns:a="http://schemas.openxmlformats.org/drawingml/2006/main">
              <a:ext uri="{FF2B5EF4-FFF2-40B4-BE49-F238E27FC236}">
                <a16:creationId xmlns:a16="http://schemas.microsoft.com/office/drawing/2014/main" id="{B3BDBAB0-B661-4D62-8D2C-EF6F7AFCC0E6}"/>
              </a:ext>
            </a:extLst>
          </p:cNvPr>
          <p:cNvSpPr>
            <a:spLocks xmlns:a="http://schemas.openxmlformats.org/drawingml/2006/main" noGrp="1"/>
          </p:cNvSpPr>
          <p:nvPr/>
        </p:nvSpPr>
        <p:spPr>
          <a:xfrm xmlns:a="http://schemas.openxmlformats.org/drawingml/2006/main">
            <a:off x="695325" y="1524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2DD"/>
                </a:solidFill>
                <a:latin typeface="Helvetica Neue"/>
                <a:ea typeface="Helvetica Neue"/>
                <a:cs typeface="Helvetica Neue"/>
              </a:defRPr>
            </a:pPr>
            <a:r>
              <a:rPr sz="2025" b="0">
                <a:solidFill>
                  <a:srgbClr val="B8C2DD"/>
                </a:solidFill>
                <a:latin typeface="Helvetica Neue"/>
                <a:ea typeface="Helvetica Neue"/>
                <a:cs typeface="Helvetica Neue"/>
              </a:rPr>
              <a:t>A convincing patch still needs a test that catches the failure.</a:t>
            </a:r>
          </a:p>
        </p:txBody>
      </p:sp>
      <p:sp>
        <p:nvSpPr>
          <p:cNvPr id="3" name="">
            <a:extLst xmlns:a="http://schemas.openxmlformats.org/drawingml/2006/main">
              <a:ext uri="{FF2B5EF4-FFF2-40B4-BE49-F238E27FC236}">
                <a16:creationId xmlns:a16="http://schemas.microsoft.com/office/drawing/2014/main" id="{26DC7373-FA6E-4F85-B30C-C1B979E77204}"/>
              </a:ext>
            </a:extLst>
          </p:cNvPr>
          <p:cNvSpPr>
            <a:spLocks xmlns:a="http://schemas.openxmlformats.org/drawingml/2006/main" noGrp="1"/>
          </p:cNvSpPr>
          <p:nvPr/>
        </p:nvSpPr>
        <p:spPr>
          <a:xfrm xmlns:a="http://schemas.openxmlformats.org/drawingml/2006/main">
            <a:off x="695325" y="26955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5B978"/>
                </a:solidFill>
                <a:latin typeface="Helvetica Neue"/>
                <a:ea typeface="Helvetica Neue"/>
                <a:cs typeface="Helvetica Neue"/>
              </a:defRPr>
            </a:pPr>
            <a:r>
              <a:rPr sz="2250" b="1">
                <a:solidFill>
                  <a:srgbClr val="F5B978"/>
                </a:solidFill>
                <a:latin typeface="Helvetica Neue"/>
                <a:ea typeface="Helvetica Neue"/>
                <a:cs typeface="Helvetica Neue"/>
              </a:rPr>
              <a:t>Original: task 4 disappears at a page boundary</a:t>
            </a:r>
          </a:p>
        </p:txBody>
      </p:sp>
      <p:sp>
        <p:nvSpPr>
          <p:cNvPr id="4" name="">
            <a:extLst xmlns:a="http://schemas.openxmlformats.org/drawingml/2006/main">
              <a:ext uri="{FF2B5EF4-FFF2-40B4-BE49-F238E27FC236}">
                <a16:creationId xmlns:a16="http://schemas.microsoft.com/office/drawing/2014/main" id="{84C43DA6-D729-4432-8C0A-D35AFC729DA0}"/>
              </a:ext>
            </a:extLst>
          </p:cNvPr>
          <p:cNvSpPr>
            <a:spLocks xmlns:a="http://schemas.openxmlformats.org/drawingml/2006/main" noGrp="1"/>
          </p:cNvSpPr>
          <p:nvPr/>
        </p:nvSpPr>
        <p:spPr>
          <a:xfrm xmlns:a="http://schemas.openxmlformats.org/drawingml/2006/main">
            <a:off x="695325" y="33337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0">
                <a:solidFill>
                  <a:srgbClr val="EDF1FF"/>
                </a:solidFill>
                <a:latin typeface="Helvetica Neue"/>
                <a:ea typeface="Helvetica Neue"/>
                <a:cs typeface="Helvetica Neue"/>
              </a:defRPr>
            </a:pPr>
            <a:r>
              <a:rPr sz="3975" b="0">
                <a:solidFill>
                  <a:srgbClr val="EDF1FF"/>
                </a:solidFill>
                <a:latin typeface="Helvetica Neue"/>
                <a:ea typeface="Helvetica Neue"/>
                <a:cs typeface="Helvetica Neue"/>
              </a:rPr>
              <a:t>1  2  3  —  5  6  7  8</a:t>
            </a:r>
          </a:p>
        </p:txBody>
      </p:sp>
      <p:sp>
        <p:nvSpPr>
          <p:cNvPr id="5" name="">
            <a:extLst xmlns:a="http://schemas.openxmlformats.org/drawingml/2006/main">
              <a:ext uri="{FF2B5EF4-FFF2-40B4-BE49-F238E27FC236}">
                <a16:creationId xmlns:a16="http://schemas.microsoft.com/office/drawing/2014/main" id="{BBBAB955-EAEF-4DEF-81E6-0E1668B0FBA3}"/>
              </a:ext>
            </a:extLst>
          </p:cNvPr>
          <p:cNvSpPr>
            <a:spLocks xmlns:a="http://schemas.openxmlformats.org/drawingml/2006/main" noGrp="1"/>
          </p:cNvSpPr>
          <p:nvPr/>
        </p:nvSpPr>
        <p:spPr>
          <a:xfrm xmlns:a="http://schemas.openxmlformats.org/drawingml/2006/main">
            <a:off x="695325" y="4552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74DEB0"/>
                </a:solidFill>
                <a:latin typeface="Helvetica Neue"/>
                <a:ea typeface="Helvetica Neue"/>
                <a:cs typeface="Helvetica Neue"/>
              </a:defRPr>
            </a:pPr>
            <a:r>
              <a:rPr sz="2250" b="1">
                <a:solidFill>
                  <a:srgbClr val="74DEB0"/>
                </a:solidFill>
                <a:latin typeface="Helvetica Neue"/>
                <a:ea typeface="Helvetica Neue"/>
                <a:cs typeface="Helvetica Neue"/>
              </a:rPr>
              <a:t>Repair: every task appears exactly once</a:t>
            </a:r>
          </a:p>
        </p:txBody>
      </p:sp>
      <p:sp>
        <p:nvSpPr>
          <p:cNvPr id="6" name="">
            <a:extLst xmlns:a="http://schemas.openxmlformats.org/drawingml/2006/main">
              <a:ext uri="{FF2B5EF4-FFF2-40B4-BE49-F238E27FC236}">
                <a16:creationId xmlns:a16="http://schemas.microsoft.com/office/drawing/2014/main" id="{3CF584E8-9C7D-45F3-B03F-D2E92E30C097}"/>
              </a:ext>
            </a:extLst>
          </p:cNvPr>
          <p:cNvSpPr>
            <a:spLocks xmlns:a="http://schemas.openxmlformats.org/drawingml/2006/main" noGrp="1"/>
          </p:cNvSpPr>
          <p:nvPr/>
        </p:nvSpPr>
        <p:spPr>
          <a:xfrm xmlns:a="http://schemas.openxmlformats.org/drawingml/2006/main">
            <a:off x="695325" y="51816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0">
                <a:solidFill>
                  <a:srgbClr val="EDF1FF"/>
                </a:solidFill>
                <a:latin typeface="Helvetica Neue"/>
                <a:ea typeface="Helvetica Neue"/>
                <a:cs typeface="Helvetica Neue"/>
              </a:defRPr>
            </a:pPr>
            <a:r>
              <a:rPr sz="3975" b="0">
                <a:solidFill>
                  <a:srgbClr val="EDF1FF"/>
                </a:solidFill>
                <a:latin typeface="Helvetica Neue"/>
                <a:ea typeface="Helvetica Neue"/>
                <a:cs typeface="Helvetica Neue"/>
              </a:rPr>
              <a:t>1  2  3  4  5  6  7  8</a:t>
            </a:r>
          </a:p>
        </p:txBody>
      </p:sp>
    </p:spTree>
    <p:extLst>
      <p:ext uri="{BB962C8B-B14F-4D97-AF65-F5344CB8AC3E}">
        <p14:creationId xmlns:p14="http://schemas.microsoft.com/office/powerpoint/2010/main" val="1276302905"/>
      </p:ext>
    </p:extLst>
  </p:cSld>
</p:sld>
</file>

<file path=ppt/slides/slide3.xml><?xml version="1.0" encoding="utf-8"?>
<p:sld xmlns:p="http://schemas.openxmlformats.org/presentationml/2006/main">
  <p:cSld>
    <p:bg>
      <p:bgPr>
        <a:solidFill xmlns:a="http://schemas.openxmlformats.org/drawingml/2006/main">
          <a:srgbClr val="10131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BBC23F-2067-41CA-BB4C-63BEFA475B0C}"/>
              </a:ext>
            </a:extLst>
          </p:cNvPr>
          <p:cNvSpPr>
            <a:spLocks xmlns:a="http://schemas.openxmlformats.org/drawingml/2006/main" noGrp="1"/>
          </p:cNvSpPr>
          <p:nvPr/>
        </p:nvSpPr>
        <p:spPr>
          <a:xfrm xmlns:a="http://schemas.openxmlformats.org/drawingml/2006/main">
            <a:off x="666750" y="5524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EDF1FF"/>
                </a:solidFill>
                <a:latin typeface="Helvetica Neue"/>
                <a:ea typeface="Helvetica Neue"/>
                <a:cs typeface="Helvetica Neue"/>
              </a:defRPr>
            </a:pPr>
            <a:r>
              <a:rPr sz="3825" b="1">
                <a:solidFill>
                  <a:srgbClr val="EDF1FF"/>
                </a:solidFill>
                <a:latin typeface="Helvetica Neue"/>
                <a:ea typeface="Helvetica Neue"/>
                <a:cs typeface="Helvetica Neue"/>
              </a:rPr>
              <a:t>Our IBM Bob workflow</a:t>
            </a:r>
          </a:p>
        </p:txBody>
      </p:sp>
      <p:sp>
        <p:nvSpPr>
          <p:cNvPr id="2" name="">
            <a:extLst xmlns:a="http://schemas.openxmlformats.org/drawingml/2006/main">
              <a:ext uri="{FF2B5EF4-FFF2-40B4-BE49-F238E27FC236}">
                <a16:creationId xmlns:a16="http://schemas.microsoft.com/office/drawing/2014/main" id="{204D1848-E52B-473B-BBED-72D4F9234CA8}"/>
              </a:ext>
            </a:extLst>
          </p:cNvPr>
          <p:cNvSpPr>
            <a:spLocks xmlns:a="http://schemas.openxmlformats.org/drawingml/2006/main" noGrp="1"/>
          </p:cNvSpPr>
          <p:nvPr/>
        </p:nvSpPr>
        <p:spPr>
          <a:xfrm xmlns:a="http://schemas.openxmlformats.org/drawingml/2006/main">
            <a:off x="695325" y="1524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2DD"/>
                </a:solidFill>
                <a:latin typeface="Helvetica Neue"/>
                <a:ea typeface="Helvetica Neue"/>
                <a:cs typeface="Helvetica Neue"/>
              </a:defRPr>
            </a:pPr>
            <a:r>
              <a:rPr sz="2025" b="0">
                <a:solidFill>
                  <a:srgbClr val="B8C2DD"/>
                </a:solidFill>
                <a:latin typeface="Helvetica Neue"/>
                <a:ea typeface="Helvetica Neue"/>
                <a:cs typeface="Helvetica Neue"/>
              </a:rPr>
              <a:t>Reproduce → preserve tests → repair → verify → share evidence</a:t>
            </a:r>
          </a:p>
        </p:txBody>
      </p:sp>
      <p:sp>
        <p:nvSpPr>
          <p:cNvPr id="3" name="">
            <a:extLst xmlns:a="http://schemas.openxmlformats.org/drawingml/2006/main">
              <a:ext uri="{FF2B5EF4-FFF2-40B4-BE49-F238E27FC236}">
                <a16:creationId xmlns:a16="http://schemas.microsoft.com/office/drawing/2014/main" id="{F9F99106-273C-4865-8EA0-9488641C7E9B}"/>
              </a:ext>
            </a:extLst>
          </p:cNvPr>
          <p:cNvSpPr>
            <a:spLocks xmlns:a="http://schemas.openxmlformats.org/drawingml/2006/main" noGrp="1"/>
          </p:cNvSpPr>
          <p:nvPr/>
        </p:nvSpPr>
        <p:spPr>
          <a:xfrm xmlns:a="http://schemas.openxmlformats.org/drawingml/2006/main">
            <a:off x="695325" y="27146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9BA8FF"/>
                </a:solidFill>
                <a:latin typeface="Helvetica Neue"/>
                <a:ea typeface="Helvetica Neue"/>
                <a:cs typeface="Helvetica Neue"/>
              </a:defRPr>
            </a:pPr>
            <a:r>
              <a:rPr sz="2850" b="1">
                <a:solidFill>
                  <a:srgbClr val="9BA8FF"/>
                </a:solidFill>
                <a:latin typeface="Helvetica Neue"/>
                <a:ea typeface="Helvetica Neue"/>
                <a:cs typeface="Helvetica Neue"/>
              </a:rPr>
              <a:t>We used Bob in our original development</a:t>
            </a:r>
          </a:p>
        </p:txBody>
      </p:sp>
      <p:sp>
        <p:nvSpPr>
          <p:cNvPr id="4" name="">
            <a:extLst xmlns:a="http://schemas.openxmlformats.org/drawingml/2006/main">
              <a:ext uri="{FF2B5EF4-FFF2-40B4-BE49-F238E27FC236}">
                <a16:creationId xmlns:a16="http://schemas.microsoft.com/office/drawing/2014/main" id="{64C91CAD-4046-4A15-9478-2F664900BE52}"/>
              </a:ext>
            </a:extLst>
          </p:cNvPr>
          <p:cNvSpPr>
            <a:spLocks xmlns:a="http://schemas.openxmlformats.org/drawingml/2006/main" noGrp="1"/>
          </p:cNvSpPr>
          <p:nvPr/>
        </p:nvSpPr>
        <p:spPr>
          <a:xfrm xmlns:a="http://schemas.openxmlformats.org/drawingml/2006/main">
            <a:off x="695325" y="3486150"/>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DF1FF"/>
                </a:solidFill>
                <a:latin typeface="Helvetica Neue"/>
                <a:ea typeface="Helvetica Neue"/>
                <a:cs typeface="Helvetica Neue"/>
              </a:defRPr>
            </a:pPr>
            <a:r>
              <a:rPr sz="2550" b="0">
                <a:solidFill>
                  <a:srgbClr val="EDF1FF"/>
                </a:solidFill>
                <a:latin typeface="Helvetica Neue"/>
                <a:ea typeface="Helvetica Neue"/>
                <a:cs typeface="Helvetica Neue"/>
              </a:rPr>
              <a:t>Our reusable local skill gives the repair workflow a repeatable structure.</a:t>
            </a:r>
          </a:p>
        </p:txBody>
      </p:sp>
      <p:sp>
        <p:nvSpPr>
          <p:cNvPr id="5" name="">
            <a:extLst xmlns:a="http://schemas.openxmlformats.org/drawingml/2006/main">
              <a:ext uri="{FF2B5EF4-FFF2-40B4-BE49-F238E27FC236}">
                <a16:creationId xmlns:a16="http://schemas.microsoft.com/office/drawing/2014/main" id="{C03F09DC-3786-47D9-BA2D-3346B5839D80}"/>
              </a:ext>
            </a:extLst>
          </p:cNvPr>
          <p:cNvSpPr>
            <a:spLocks xmlns:a="http://schemas.openxmlformats.org/drawingml/2006/main" noGrp="1"/>
          </p:cNvSpPr>
          <p:nvPr/>
        </p:nvSpPr>
        <p:spPr>
          <a:xfrm xmlns:a="http://schemas.openxmlformats.org/drawingml/2006/main">
            <a:off x="695325" y="491490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DF1FF"/>
                </a:solidFill>
                <a:latin typeface="Helvetica Neue"/>
                <a:ea typeface="Helvetica Neue"/>
                <a:cs typeface="Helvetica Neue"/>
              </a:defRPr>
            </a:pPr>
            <a:r>
              <a:rPr sz="2550" b="0">
                <a:solidFill>
                  <a:srgbClr val="EDF1FF"/>
                </a:solidFill>
                <a:latin typeface="Helvetica Neue"/>
                <a:ea typeface="Helvetica Neue"/>
                <a:cs typeface="Helvetica Neue"/>
              </a:rPr>
              <a:t>After using our credits, we continued local improvements and testing.</a:t>
            </a:r>
          </a:p>
        </p:txBody>
      </p:sp>
    </p:spTree>
    <p:extLst>
      <p:ext uri="{BB962C8B-B14F-4D97-AF65-F5344CB8AC3E}">
        <p14:creationId xmlns:p14="http://schemas.microsoft.com/office/powerpoint/2010/main" val="340709729"/>
      </p:ext>
    </p:extLst>
  </p:cSld>
</p:sld>
</file>

<file path=ppt/slides/slide4.xml><?xml version="1.0" encoding="utf-8"?>
<p:sld xmlns:p="http://schemas.openxmlformats.org/presentationml/2006/main">
  <p:cSld>
    <p:bg>
      <p:bgPr>
        <a:solidFill xmlns:a="http://schemas.openxmlformats.org/drawingml/2006/main">
          <a:srgbClr val="10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F57199-75D8-4D16-8E93-BF2C3DDA9BBF}"/>
              </a:ext>
            </a:extLst>
          </p:cNvPr>
          <p:cNvSpPr>
            <a:spLocks xmlns:a="http://schemas.openxmlformats.org/drawingml/2006/main" noGrp="1"/>
          </p:cNvSpPr>
          <p:nvPr/>
        </p:nvSpPr>
        <p:spPr>
          <a:xfrm xmlns:a="http://schemas.openxmlformats.org/drawingml/2006/main">
            <a:off x="666750" y="5524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EDF1FF"/>
                </a:solidFill>
                <a:latin typeface="Helvetica Neue"/>
                <a:ea typeface="Helvetica Neue"/>
                <a:cs typeface="Helvetica Neue"/>
              </a:defRPr>
            </a:pPr>
            <a:r>
              <a:rPr sz="3825" b="1">
                <a:solidFill>
                  <a:srgbClr val="EDF1FF"/>
                </a:solidFill>
                <a:latin typeface="Helvetica Neue"/>
                <a:ea typeface="Helvetica Neue"/>
                <a:cs typeface="Helvetica Neue"/>
              </a:rPr>
              <a:t>Our verification contract</a:t>
            </a:r>
          </a:p>
        </p:txBody>
      </p:sp>
      <p:sp>
        <p:nvSpPr>
          <p:cNvPr id="2" name="">
            <a:extLst xmlns:a="http://schemas.openxmlformats.org/drawingml/2006/main">
              <a:ext uri="{FF2B5EF4-FFF2-40B4-BE49-F238E27FC236}">
                <a16:creationId xmlns:a16="http://schemas.microsoft.com/office/drawing/2014/main" id="{C2262EF6-4407-4267-9181-430B81DB8CE0}"/>
              </a:ext>
            </a:extLst>
          </p:cNvPr>
          <p:cNvSpPr>
            <a:spLocks xmlns:a="http://schemas.openxmlformats.org/drawingml/2006/main" noGrp="1"/>
          </p:cNvSpPr>
          <p:nvPr/>
        </p:nvSpPr>
        <p:spPr>
          <a:xfrm xmlns:a="http://schemas.openxmlformats.org/drawingml/2006/main">
            <a:off x="695325" y="1524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2DD"/>
                </a:solidFill>
                <a:latin typeface="Helvetica Neue"/>
                <a:ea typeface="Helvetica Neue"/>
                <a:cs typeface="Helvetica Neue"/>
              </a:defRPr>
            </a:pPr>
            <a:r>
              <a:rPr sz="2025" b="0">
                <a:solidFill>
                  <a:srgbClr val="B8C2DD"/>
                </a:solidFill>
                <a:latin typeface="Helvetica Neue"/>
                <a:ea typeface="Helvetica Neue"/>
                <a:cs typeface="Helvetica Neue"/>
              </a:rPr>
              <a:t>A repair earns acceptance only against the preserved test suite.</a:t>
            </a:r>
          </a:p>
        </p:txBody>
      </p:sp>
      <p:sp>
        <p:nvSpPr>
          <p:cNvPr id="3" name="">
            <a:extLst xmlns:a="http://schemas.openxmlformats.org/drawingml/2006/main">
              <a:ext uri="{FF2B5EF4-FFF2-40B4-BE49-F238E27FC236}">
                <a16:creationId xmlns:a16="http://schemas.microsoft.com/office/drawing/2014/main" id="{9E8BD06F-0805-4905-BC55-A1BBCB50FF38}"/>
              </a:ext>
            </a:extLst>
          </p:cNvPr>
          <p:cNvSpPr>
            <a:spLocks xmlns:a="http://schemas.openxmlformats.org/drawingml/2006/main" noGrp="1"/>
          </p:cNvSpPr>
          <p:nvPr/>
        </p:nvSpPr>
        <p:spPr>
          <a:xfrm xmlns:a="http://schemas.openxmlformats.org/drawingml/2006/main">
            <a:off x="695325" y="26479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DF1FF"/>
                </a:solidFill>
                <a:latin typeface="Helvetica Neue"/>
                <a:ea typeface="Helvetica Neue"/>
                <a:cs typeface="Helvetica Neue"/>
              </a:defRPr>
            </a:pPr>
            <a:r>
              <a:rPr sz="2550" b="0">
                <a:solidFill>
                  <a:srgbClr val="EDF1FF"/>
                </a:solidFill>
                <a:latin typeface="Helvetica Neue"/>
                <a:ea typeface="Helvetica Neue"/>
                <a:cs typeface="Helvetica Neue"/>
              </a:rPr>
              <a:t>01   Check the protected baseline, fixture and tests</a:t>
            </a:r>
          </a:p>
        </p:txBody>
      </p:sp>
      <p:sp>
        <p:nvSpPr>
          <p:cNvPr id="4" name="">
            <a:extLst xmlns:a="http://schemas.openxmlformats.org/drawingml/2006/main">
              <a:ext uri="{FF2B5EF4-FFF2-40B4-BE49-F238E27FC236}">
                <a16:creationId xmlns:a16="http://schemas.microsoft.com/office/drawing/2014/main" id="{1D5CA974-A0A2-4A21-A137-B66445F79E20}"/>
              </a:ext>
            </a:extLst>
          </p:cNvPr>
          <p:cNvSpPr>
            <a:spLocks xmlns:a="http://schemas.openxmlformats.org/drawingml/2006/main" noGrp="1"/>
          </p:cNvSpPr>
          <p:nvPr/>
        </p:nvSpPr>
        <p:spPr>
          <a:xfrm xmlns:a="http://schemas.openxmlformats.org/drawingml/2006/main">
            <a:off x="695325" y="35147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DF1FF"/>
                </a:solidFill>
                <a:latin typeface="Helvetica Neue"/>
                <a:ea typeface="Helvetica Neue"/>
                <a:cs typeface="Helvetica Neue"/>
              </a:defRPr>
            </a:pPr>
            <a:r>
              <a:rPr sz="2550" b="0">
                <a:solidFill>
                  <a:srgbClr val="EDF1FF"/>
                </a:solidFill>
                <a:latin typeface="Helvetica Neue"/>
                <a:ea typeface="Helvetica Neue"/>
                <a:cs typeface="Helvetica Neue"/>
              </a:rPr>
              <a:t>02   Reproduce the named original assertion failure</a:t>
            </a:r>
          </a:p>
        </p:txBody>
      </p:sp>
      <p:sp>
        <p:nvSpPr>
          <p:cNvPr id="5" name="">
            <a:extLst xmlns:a="http://schemas.openxmlformats.org/drawingml/2006/main">
              <a:ext uri="{FF2B5EF4-FFF2-40B4-BE49-F238E27FC236}">
                <a16:creationId xmlns:a16="http://schemas.microsoft.com/office/drawing/2014/main" id="{2EF2D72F-6BBC-431D-8F73-695EB66B2A78}"/>
              </a:ext>
            </a:extLst>
          </p:cNvPr>
          <p:cNvSpPr>
            <a:spLocks xmlns:a="http://schemas.openxmlformats.org/drawingml/2006/main" noGrp="1"/>
          </p:cNvSpPr>
          <p:nvPr/>
        </p:nvSpPr>
        <p:spPr>
          <a:xfrm xmlns:a="http://schemas.openxmlformats.org/drawingml/2006/main">
            <a:off x="695325" y="4381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DF1FF"/>
                </a:solidFill>
                <a:latin typeface="Helvetica Neue"/>
                <a:ea typeface="Helvetica Neue"/>
                <a:cs typeface="Helvetica Neue"/>
              </a:defRPr>
            </a:pPr>
            <a:r>
              <a:rPr sz="2550" b="0">
                <a:solidFill>
                  <a:srgbClr val="EDF1FF"/>
                </a:solidFill>
                <a:latin typeface="Helvetica Neue"/>
                <a:ea typeface="Helvetica Neue"/>
                <a:cs typeface="Helvetica Neue"/>
              </a:rPr>
              <a:t>03   Run the identical complete suite on the repair</a:t>
            </a:r>
          </a:p>
        </p:txBody>
      </p:sp>
      <p:sp>
        <p:nvSpPr>
          <p:cNvPr id="6" name="">
            <a:extLst xmlns:a="http://schemas.openxmlformats.org/drawingml/2006/main">
              <a:ext uri="{FF2B5EF4-FFF2-40B4-BE49-F238E27FC236}">
                <a16:creationId xmlns:a16="http://schemas.microsoft.com/office/drawing/2014/main" id="{B2FAAFA3-B74A-4B3D-B832-C7C0244DACA3}"/>
              </a:ext>
            </a:extLst>
          </p:cNvPr>
          <p:cNvSpPr>
            <a:spLocks xmlns:a="http://schemas.openxmlformats.org/drawingml/2006/main" noGrp="1"/>
          </p:cNvSpPr>
          <p:nvPr/>
        </p:nvSpPr>
        <p:spPr>
          <a:xfrm xmlns:a="http://schemas.openxmlformats.org/drawingml/2006/main">
            <a:off x="695325" y="52482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DF1FF"/>
                </a:solidFill>
                <a:latin typeface="Helvetica Neue"/>
                <a:ea typeface="Helvetica Neue"/>
                <a:cs typeface="Helvetica Neue"/>
              </a:defRPr>
            </a:pPr>
            <a:r>
              <a:rPr sz="2550" b="0">
                <a:solidFill>
                  <a:srgbClr val="EDF1FF"/>
                </a:solidFill>
                <a:latin typeface="Helvetica Neue"/>
                <a:ea typeface="Helvetica Neue"/>
                <a:cs typeface="Helvetica Neue"/>
              </a:rPr>
              <a:t>04   Export the exact executed code and evidence</a:t>
            </a:r>
          </a:p>
        </p:txBody>
      </p:sp>
    </p:spTree>
    <p:extLst>
      <p:ext uri="{BB962C8B-B14F-4D97-AF65-F5344CB8AC3E}">
        <p14:creationId xmlns:p14="http://schemas.microsoft.com/office/powerpoint/2010/main" val="1809206630"/>
      </p:ext>
    </p:extLst>
  </p:cSld>
</p:sld>
</file>

<file path=ppt/slides/slide5.xml><?xml version="1.0" encoding="utf-8"?>
<p:sld xmlns:p="http://schemas.openxmlformats.org/presentationml/2006/main">
  <p:cSld>
    <p:bg>
      <p:bgPr>
        <a:solidFill xmlns:a="http://schemas.openxmlformats.org/drawingml/2006/main">
          <a:srgbClr val="1013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305A3D-2F7E-4B57-8A2D-C638040209E7}"/>
              </a:ext>
            </a:extLst>
          </p:cNvPr>
          <p:cNvSpPr>
            <a:spLocks xmlns:a="http://schemas.openxmlformats.org/drawingml/2006/main" noGrp="1"/>
          </p:cNvSpPr>
          <p:nvPr/>
        </p:nvSpPr>
        <p:spPr>
          <a:xfrm xmlns:a="http://schemas.openxmlformats.org/drawingml/2006/main">
            <a:off x="666750" y="5524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EDF1FF"/>
                </a:solidFill>
                <a:latin typeface="Helvetica Neue"/>
                <a:ea typeface="Helvetica Neue"/>
                <a:cs typeface="Helvetica Neue"/>
              </a:defRPr>
            </a:pPr>
            <a:r>
              <a:rPr sz="3825" b="1">
                <a:solidFill>
                  <a:srgbClr val="EDF1FF"/>
                </a:solidFill>
                <a:latin typeface="Helvetica Neue"/>
                <a:ea typeface="Helvetica Neue"/>
                <a:cs typeface="Helvetica Neue"/>
              </a:rPr>
              <a:t>Results we can reproduce</a:t>
            </a:r>
          </a:p>
        </p:txBody>
      </p:sp>
      <p:sp>
        <p:nvSpPr>
          <p:cNvPr id="2" name="">
            <a:extLst xmlns:a="http://schemas.openxmlformats.org/drawingml/2006/main">
              <a:ext uri="{FF2B5EF4-FFF2-40B4-BE49-F238E27FC236}">
                <a16:creationId xmlns:a16="http://schemas.microsoft.com/office/drawing/2014/main" id="{0EE19D25-5005-40AA-BA21-9FE285D1717E}"/>
              </a:ext>
            </a:extLst>
          </p:cNvPr>
          <p:cNvSpPr>
            <a:spLocks xmlns:a="http://schemas.openxmlformats.org/drawingml/2006/main" noGrp="1"/>
          </p:cNvSpPr>
          <p:nvPr/>
        </p:nvSpPr>
        <p:spPr>
          <a:xfrm xmlns:a="http://schemas.openxmlformats.org/drawingml/2006/main">
            <a:off x="695325" y="1524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2DD"/>
                </a:solidFill>
                <a:latin typeface="Helvetica Neue"/>
                <a:ea typeface="Helvetica Neue"/>
                <a:cs typeface="Helvetica Neue"/>
              </a:defRPr>
            </a:pPr>
            <a:r>
              <a:rPr sz="2025" b="0">
                <a:solidFill>
                  <a:srgbClr val="B8C2DD"/>
                </a:solidFill>
                <a:latin typeface="Helvetica Neue"/>
                <a:ea typeface="Helvetica Neue"/>
                <a:cs typeface="Helvetica Neue"/>
              </a:rPr>
              <a:t>One synthetic case, tested through success and failure.</a:t>
            </a:r>
          </a:p>
        </p:txBody>
      </p:sp>
      <p:sp>
        <p:nvSpPr>
          <p:cNvPr id="3" name="">
            <a:extLst xmlns:a="http://schemas.openxmlformats.org/drawingml/2006/main">
              <a:ext uri="{FF2B5EF4-FFF2-40B4-BE49-F238E27FC236}">
                <a16:creationId xmlns:a16="http://schemas.microsoft.com/office/drawing/2014/main" id="{0D4F688F-3EAA-46BA-A526-E8C9A787B760}"/>
              </a:ext>
            </a:extLst>
          </p:cNvPr>
          <p:cNvSpPr>
            <a:spLocks xmlns:a="http://schemas.openxmlformats.org/drawingml/2006/main" noGrp="1"/>
          </p:cNvSpPr>
          <p:nvPr/>
        </p:nvSpPr>
        <p:spPr>
          <a:xfrm xmlns:a="http://schemas.openxmlformats.org/drawingml/2006/main">
            <a:off x="695325" y="2619375"/>
            <a:ext cx="5524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1">
                <a:solidFill>
                  <a:srgbClr val="74DEB0"/>
                </a:solidFill>
                <a:latin typeface="Helvetica Neue"/>
                <a:ea typeface="Helvetica Neue"/>
                <a:cs typeface="Helvetica Neue"/>
              </a:defRPr>
            </a:pPr>
            <a:r>
              <a:rPr sz="6375" b="1">
                <a:solidFill>
                  <a:srgbClr val="74DEB0"/>
                </a:solidFill>
                <a:latin typeface="Helvetica Neue"/>
                <a:ea typeface="Helvetica Neue"/>
                <a:cs typeface="Helvetica Neue"/>
              </a:rPr>
              <a:t>30 / 30</a:t>
            </a:r>
          </a:p>
        </p:txBody>
      </p:sp>
      <p:sp>
        <p:nvSpPr>
          <p:cNvPr id="4" name="">
            <a:extLst xmlns:a="http://schemas.openxmlformats.org/drawingml/2006/main">
              <a:ext uri="{FF2B5EF4-FFF2-40B4-BE49-F238E27FC236}">
                <a16:creationId xmlns:a16="http://schemas.microsoft.com/office/drawing/2014/main" id="{0FD8633A-9C1B-4330-A43A-B0ACD76DD709}"/>
              </a:ext>
            </a:extLst>
          </p:cNvPr>
          <p:cNvSpPr>
            <a:spLocks xmlns:a="http://schemas.openxmlformats.org/drawingml/2006/main" noGrp="1"/>
          </p:cNvSpPr>
          <p:nvPr/>
        </p:nvSpPr>
        <p:spPr>
          <a:xfrm xmlns:a="http://schemas.openxmlformats.org/drawingml/2006/main">
            <a:off x="695325" y="3962400"/>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DF1FF"/>
                </a:solidFill>
                <a:latin typeface="Helvetica Neue"/>
                <a:ea typeface="Helvetica Neue"/>
                <a:cs typeface="Helvetica Neue"/>
              </a:defRPr>
            </a:pPr>
            <a:r>
              <a:rPr sz="2325" b="0">
                <a:solidFill>
                  <a:srgbClr val="EDF1FF"/>
                </a:solidFill>
                <a:latin typeface="Helvetica Neue"/>
                <a:ea typeface="Helvetica Neue"/>
                <a:cs typeface="Helvetica Neue"/>
              </a:rPr>
              <a:t>candidate behavior checks pass</a:t>
            </a:r>
          </a:p>
        </p:txBody>
      </p:sp>
      <p:sp>
        <p:nvSpPr>
          <p:cNvPr id="5" name="">
            <a:extLst xmlns:a="http://schemas.openxmlformats.org/drawingml/2006/main">
              <a:ext uri="{FF2B5EF4-FFF2-40B4-BE49-F238E27FC236}">
                <a16:creationId xmlns:a16="http://schemas.microsoft.com/office/drawing/2014/main" id="{D092060C-7A7B-42D5-B677-3E1A1FB3FDBB}"/>
              </a:ext>
            </a:extLst>
          </p:cNvPr>
          <p:cNvSpPr>
            <a:spLocks xmlns:a="http://schemas.openxmlformats.org/drawingml/2006/main" noGrp="1"/>
          </p:cNvSpPr>
          <p:nvPr/>
        </p:nvSpPr>
        <p:spPr>
          <a:xfrm xmlns:a="http://schemas.openxmlformats.org/drawingml/2006/main">
            <a:off x="6762750" y="277177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DF1FF"/>
                </a:solidFill>
                <a:latin typeface="Helvetica Neue"/>
                <a:ea typeface="Helvetica Neue"/>
                <a:cs typeface="Helvetica Neue"/>
              </a:defRPr>
            </a:pPr>
            <a:r>
              <a:rPr sz="2250" b="0">
                <a:solidFill>
                  <a:srgbClr val="EDF1FF"/>
                </a:solidFill>
                <a:latin typeface="Helvetica Neue"/>
                <a:ea typeface="Helvetica Neue"/>
                <a:cs typeface="Helvetica Neue"/>
              </a:rPr>
              <a:t>Original defect: reproduced</a:t>
            </a:r>
          </a:p>
          <a:p xmlns:a="http://schemas.openxmlformats.org/drawingml/2006/main">
            <a:r>
              <a:t/>
            </a:r>
          </a:p>
          <a:p xmlns:a="http://schemas.openxmlformats.org/drawingml/2006/main">
            <a:pPr>
              <a:defRPr sz="2250" b="0">
                <a:solidFill>
                  <a:srgbClr val="EDF1FF"/>
                </a:solidFill>
                <a:latin typeface="Helvetica Neue"/>
                <a:ea typeface="Helvetica Neue"/>
                <a:cs typeface="Helvetica Neue"/>
              </a:defRPr>
            </a:pPr>
            <a:r>
              <a:rPr sz="2250" b="0">
                <a:solidFill>
                  <a:srgbClr val="EDF1FF"/>
                </a:solidFill>
                <a:latin typeface="Helvetica Neue"/>
                <a:ea typeface="Helvetica Neue"/>
                <a:cs typeface="Helvetica Neue"/>
              </a:rPr>
              <a:t>Incorrect repair: rejected</a:t>
            </a:r>
          </a:p>
        </p:txBody>
      </p:sp>
      <p:sp>
        <p:nvSpPr>
          <p:cNvPr id="6" name="">
            <a:extLst xmlns:a="http://schemas.openxmlformats.org/drawingml/2006/main">
              <a:ext uri="{FF2B5EF4-FFF2-40B4-BE49-F238E27FC236}">
                <a16:creationId xmlns:a16="http://schemas.microsoft.com/office/drawing/2014/main" id="{F22523F0-B9D3-4AA1-A778-1802A39D310E}"/>
              </a:ext>
            </a:extLst>
          </p:cNvPr>
          <p:cNvSpPr>
            <a:spLocks xmlns:a="http://schemas.openxmlformats.org/drawingml/2006/main" noGrp="1"/>
          </p:cNvSpPr>
          <p:nvPr/>
        </p:nvSpPr>
        <p:spPr>
          <a:xfrm xmlns:a="http://schemas.openxmlformats.org/drawingml/2006/main">
            <a:off x="695325" y="55245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2DD"/>
                </a:solidFill>
                <a:latin typeface="Helvetica Neue"/>
                <a:ea typeface="Helvetica Neue"/>
                <a:cs typeface="Helvetica Neue"/>
              </a:defRPr>
            </a:pPr>
            <a:r>
              <a:rPr sz="2025" b="0">
                <a:solidFill>
                  <a:srgbClr val="B8C2DD"/>
                </a:solidFill>
                <a:latin typeface="Helvetica Neue"/>
                <a:ea typeface="Helvetica Neue"/>
                <a:cs typeface="Helvetica Neue"/>
              </a:rPr>
              <a:t>35 verifier + interface checks pass; exported snapshot reruns successfully</a:t>
            </a:r>
          </a:p>
        </p:txBody>
      </p:sp>
    </p:spTree>
    <p:extLst>
      <p:ext uri="{BB962C8B-B14F-4D97-AF65-F5344CB8AC3E}">
        <p14:creationId xmlns:p14="http://schemas.microsoft.com/office/powerpoint/2010/main" val="462546887"/>
      </p:ext>
    </p:extLst>
  </p:cSld>
</p:sld>
</file>

<file path=ppt/slides/slide6.xml><?xml version="1.0" encoding="utf-8"?>
<p:sld xmlns:p="http://schemas.openxmlformats.org/presentationml/2006/main">
  <p:cSld>
    <p:bg>
      <p:bgPr>
        <a:solidFill xmlns:a="http://schemas.openxmlformats.org/drawingml/2006/main">
          <a:srgbClr val="1013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47BEBE-BFC3-4230-ACBD-6EF5627CA702}"/>
              </a:ext>
            </a:extLst>
          </p:cNvPr>
          <p:cNvSpPr>
            <a:spLocks xmlns:a="http://schemas.openxmlformats.org/drawingml/2006/main" noGrp="1"/>
          </p:cNvSpPr>
          <p:nvPr/>
        </p:nvSpPr>
        <p:spPr>
          <a:xfrm xmlns:a="http://schemas.openxmlformats.org/drawingml/2006/main">
            <a:off x="666750" y="5524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EDF1FF"/>
                </a:solidFill>
                <a:latin typeface="Helvetica Neue"/>
                <a:ea typeface="Helvetica Neue"/>
                <a:cs typeface="Helvetica Neue"/>
              </a:defRPr>
            </a:pPr>
            <a:r>
              <a:rPr sz="3825" b="1">
                <a:solidFill>
                  <a:srgbClr val="EDF1FF"/>
                </a:solidFill>
                <a:latin typeface="Helvetica Neue"/>
                <a:ea typeface="Helvetica Neue"/>
                <a:cs typeface="Helvetica Neue"/>
              </a:rPr>
              <a:t>Who benefits</a:t>
            </a:r>
          </a:p>
        </p:txBody>
      </p:sp>
      <p:sp>
        <p:nvSpPr>
          <p:cNvPr id="2" name="">
            <a:extLst xmlns:a="http://schemas.openxmlformats.org/drawingml/2006/main">
              <a:ext uri="{FF2B5EF4-FFF2-40B4-BE49-F238E27FC236}">
                <a16:creationId xmlns:a16="http://schemas.microsoft.com/office/drawing/2014/main" id="{C809591F-3663-4C75-B0B0-0E2C0A462505}"/>
              </a:ext>
            </a:extLst>
          </p:cNvPr>
          <p:cNvSpPr>
            <a:spLocks xmlns:a="http://schemas.openxmlformats.org/drawingml/2006/main" noGrp="1"/>
          </p:cNvSpPr>
          <p:nvPr/>
        </p:nvSpPr>
        <p:spPr>
          <a:xfrm xmlns:a="http://schemas.openxmlformats.org/drawingml/2006/main">
            <a:off x="695325" y="1524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2DD"/>
                </a:solidFill>
                <a:latin typeface="Helvetica Neue"/>
                <a:ea typeface="Helvetica Neue"/>
                <a:cs typeface="Helvetica Neue"/>
              </a:defRPr>
            </a:pPr>
            <a:r>
              <a:rPr sz="2025" b="0">
                <a:solidFill>
                  <a:srgbClr val="B8C2DD"/>
                </a:solidFill>
                <a:latin typeface="Helvetica Neue"/>
                <a:ea typeface="Helvetica Neue"/>
                <a:cs typeface="Helvetica Neue"/>
              </a:rPr>
              <a:t>Reviewable evidence connects AI development to accountable release decisions.</a:t>
            </a:r>
          </a:p>
        </p:txBody>
      </p:sp>
      <p:sp>
        <p:nvSpPr>
          <p:cNvPr id="3" name="">
            <a:extLst xmlns:a="http://schemas.openxmlformats.org/drawingml/2006/main">
              <a:ext uri="{FF2B5EF4-FFF2-40B4-BE49-F238E27FC236}">
                <a16:creationId xmlns:a16="http://schemas.microsoft.com/office/drawing/2014/main" id="{155FD6E9-1D64-45D2-B004-F9EDA19F4B84}"/>
              </a:ext>
            </a:extLst>
          </p:cNvPr>
          <p:cNvSpPr>
            <a:spLocks xmlns:a="http://schemas.openxmlformats.org/drawingml/2006/main" noGrp="1"/>
          </p:cNvSpPr>
          <p:nvPr/>
        </p:nvSpPr>
        <p:spPr>
          <a:xfrm xmlns:a="http://schemas.openxmlformats.org/drawingml/2006/main">
            <a:off x="695325" y="26479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BA8FF"/>
                </a:solidFill>
                <a:latin typeface="Helvetica Neue"/>
                <a:ea typeface="Helvetica Neue"/>
                <a:cs typeface="Helvetica Neue"/>
              </a:defRPr>
            </a:pPr>
            <a:r>
              <a:rPr sz="2250" b="1">
                <a:solidFill>
                  <a:srgbClr val="9BA8FF"/>
                </a:solidFill>
                <a:latin typeface="Helvetica Neue"/>
                <a:ea typeface="Helvetica Neue"/>
                <a:cs typeface="Helvetica Neue"/>
              </a:rPr>
              <a:t>Developers + reviewers</a:t>
            </a:r>
          </a:p>
        </p:txBody>
      </p:sp>
      <p:sp>
        <p:nvSpPr>
          <p:cNvPr id="4" name="">
            <a:extLst xmlns:a="http://schemas.openxmlformats.org/drawingml/2006/main">
              <a:ext uri="{FF2B5EF4-FFF2-40B4-BE49-F238E27FC236}">
                <a16:creationId xmlns:a16="http://schemas.microsoft.com/office/drawing/2014/main" id="{DE49AEE1-7377-4240-8829-8299ED647DB0}"/>
              </a:ext>
            </a:extLst>
          </p:cNvPr>
          <p:cNvSpPr>
            <a:spLocks xmlns:a="http://schemas.openxmlformats.org/drawingml/2006/main" noGrp="1"/>
          </p:cNvSpPr>
          <p:nvPr/>
        </p:nvSpPr>
        <p:spPr>
          <a:xfrm xmlns:a="http://schemas.openxmlformats.org/drawingml/2006/main">
            <a:off x="695325" y="32289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DF1FF"/>
                </a:solidFill>
                <a:latin typeface="Helvetica Neue"/>
                <a:ea typeface="Helvetica Neue"/>
                <a:cs typeface="Helvetica Neue"/>
              </a:defRPr>
            </a:pPr>
            <a:r>
              <a:rPr sz="2325" b="0">
                <a:solidFill>
                  <a:srgbClr val="EDF1FF"/>
                </a:solidFill>
                <a:latin typeface="Helvetica Neue"/>
                <a:ea typeface="Helvetica Neue"/>
                <a:cs typeface="Helvetica Neue"/>
              </a:rPr>
              <a:t>One repeatable handoff: defect, patch, tests and logs.</a:t>
            </a:r>
          </a:p>
        </p:txBody>
      </p:sp>
      <p:sp>
        <p:nvSpPr>
          <p:cNvPr id="5" name="">
            <a:extLst xmlns:a="http://schemas.openxmlformats.org/drawingml/2006/main">
              <a:ext uri="{FF2B5EF4-FFF2-40B4-BE49-F238E27FC236}">
                <a16:creationId xmlns:a16="http://schemas.microsoft.com/office/drawing/2014/main" id="{C7F6FDE5-778F-4BBE-97E6-089EC5AE74A1}"/>
              </a:ext>
            </a:extLst>
          </p:cNvPr>
          <p:cNvSpPr>
            <a:spLocks xmlns:a="http://schemas.openxmlformats.org/drawingml/2006/main" noGrp="1"/>
          </p:cNvSpPr>
          <p:nvPr/>
        </p:nvSpPr>
        <p:spPr>
          <a:xfrm xmlns:a="http://schemas.openxmlformats.org/drawingml/2006/main">
            <a:off x="695325" y="4048125"/>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BA8FF"/>
                </a:solidFill>
                <a:latin typeface="Helvetica Neue"/>
                <a:ea typeface="Helvetica Neue"/>
                <a:cs typeface="Helvetica Neue"/>
              </a:defRPr>
            </a:pPr>
            <a:r>
              <a:rPr sz="2250" b="1">
                <a:solidFill>
                  <a:srgbClr val="9BA8FF"/>
                </a:solidFill>
                <a:latin typeface="Helvetica Neue"/>
                <a:ea typeface="Helvetica Neue"/>
                <a:cs typeface="Helvetica Neue"/>
              </a:rPr>
              <a:t>IBM’s developer ecosystem</a:t>
            </a:r>
          </a:p>
        </p:txBody>
      </p:sp>
      <p:sp>
        <p:nvSpPr>
          <p:cNvPr id="6" name="">
            <a:extLst xmlns:a="http://schemas.openxmlformats.org/drawingml/2006/main">
              <a:ext uri="{FF2B5EF4-FFF2-40B4-BE49-F238E27FC236}">
                <a16:creationId xmlns:a16="http://schemas.microsoft.com/office/drawing/2014/main" id="{D03F9AE5-8C79-40AF-BD01-E1A3B6E501DC}"/>
              </a:ext>
            </a:extLst>
          </p:cNvPr>
          <p:cNvSpPr>
            <a:spLocks xmlns:a="http://schemas.openxmlformats.org/drawingml/2006/main" noGrp="1"/>
          </p:cNvSpPr>
          <p:nvPr/>
        </p:nvSpPr>
        <p:spPr>
          <a:xfrm xmlns:a="http://schemas.openxmlformats.org/drawingml/2006/main">
            <a:off x="695325" y="4629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DF1FF"/>
                </a:solidFill>
                <a:latin typeface="Helvetica Neue"/>
                <a:ea typeface="Helvetica Neue"/>
                <a:cs typeface="Helvetica Neue"/>
              </a:defRPr>
            </a:pPr>
            <a:r>
              <a:rPr sz="2325" b="0">
                <a:solidFill>
                  <a:srgbClr val="EDF1FF"/>
                </a:solidFill>
                <a:latin typeface="Helvetica Neue"/>
                <a:ea typeface="Helvetica Neue"/>
                <a:cs typeface="Helvetica Neue"/>
              </a:rPr>
              <a:t>A reusable verification pattern around Bob-assisted work.</a:t>
            </a:r>
          </a:p>
        </p:txBody>
      </p:sp>
      <p:sp>
        <p:nvSpPr>
          <p:cNvPr id="7" name="">
            <a:extLst xmlns:a="http://schemas.openxmlformats.org/drawingml/2006/main">
              <a:ext uri="{FF2B5EF4-FFF2-40B4-BE49-F238E27FC236}">
                <a16:creationId xmlns:a16="http://schemas.microsoft.com/office/drawing/2014/main" id="{ACA66AB7-F31F-4ED7-9413-844F4CB705A0}"/>
              </a:ext>
            </a:extLst>
          </p:cNvPr>
          <p:cNvSpPr>
            <a:spLocks xmlns:a="http://schemas.openxmlformats.org/drawingml/2006/main" noGrp="1"/>
          </p:cNvSpPr>
          <p:nvPr/>
        </p:nvSpPr>
        <p:spPr>
          <a:xfrm xmlns:a="http://schemas.openxmlformats.org/drawingml/2006/main">
            <a:off x="695325" y="55721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8C2DD"/>
                </a:solidFill>
                <a:latin typeface="Helvetica Neue"/>
                <a:ea typeface="Helvetica Neue"/>
                <a:cs typeface="Helvetica Neue"/>
              </a:defRPr>
            </a:pPr>
            <a:r>
              <a:rPr sz="2100" b="0">
                <a:solidFill>
                  <a:srgbClr val="B8C2DD"/>
                </a:solidFill>
                <a:latin typeface="Helvetica Neue"/>
                <a:ea typeface="Helvetica Neue"/>
                <a:cs typeface="Helvetica Neue"/>
              </a:rPr>
              <a:t>Governance: traceability     •     End users: fewer missed defects</a:t>
            </a:r>
          </a:p>
        </p:txBody>
      </p:sp>
    </p:spTree>
    <p:extLst>
      <p:ext uri="{BB962C8B-B14F-4D97-AF65-F5344CB8AC3E}">
        <p14:creationId xmlns:p14="http://schemas.microsoft.com/office/powerpoint/2010/main" val="177147637"/>
      </p:ext>
    </p:extLst>
  </p:cSld>
</p:sld>
</file>

<file path=ppt/slides/slide7.xml><?xml version="1.0" encoding="utf-8"?>
<p:sld xmlns:p="http://schemas.openxmlformats.org/presentationml/2006/main">
  <p:cSld>
    <p:bg>
      <p:bgPr>
        <a:solidFill xmlns:a="http://schemas.openxmlformats.org/drawingml/2006/main">
          <a:srgbClr val="1013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85622C-7DA5-41D5-BFC9-9B9E2550109D}"/>
              </a:ext>
            </a:extLst>
          </p:cNvPr>
          <p:cNvSpPr>
            <a:spLocks xmlns:a="http://schemas.openxmlformats.org/drawingml/2006/main" noGrp="1"/>
          </p:cNvSpPr>
          <p:nvPr/>
        </p:nvSpPr>
        <p:spPr>
          <a:xfrm xmlns:a="http://schemas.openxmlformats.org/drawingml/2006/main">
            <a:off x="666750" y="5524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EDF1FF"/>
                </a:solidFill>
                <a:latin typeface="Helvetica Neue"/>
                <a:ea typeface="Helvetica Neue"/>
                <a:cs typeface="Helvetica Neue"/>
              </a:defRPr>
            </a:pPr>
            <a:r>
              <a:rPr sz="3825" b="1">
                <a:solidFill>
                  <a:srgbClr val="EDF1FF"/>
                </a:solidFill>
                <a:latin typeface="Helvetica Neue"/>
                <a:ea typeface="Helvetica Neue"/>
                <a:cs typeface="Helvetica Neue"/>
              </a:rPr>
              <a:t>Our first users and product path</a:t>
            </a:r>
          </a:p>
        </p:txBody>
      </p:sp>
      <p:sp>
        <p:nvSpPr>
          <p:cNvPr id="2" name="">
            <a:extLst xmlns:a="http://schemas.openxmlformats.org/drawingml/2006/main">
              <a:ext uri="{FF2B5EF4-FFF2-40B4-BE49-F238E27FC236}">
                <a16:creationId xmlns:a16="http://schemas.microsoft.com/office/drawing/2014/main" id="{CC47C428-0D4A-4923-AB5B-9CDE3CA2F226}"/>
              </a:ext>
            </a:extLst>
          </p:cNvPr>
          <p:cNvSpPr>
            <a:spLocks xmlns:a="http://schemas.openxmlformats.org/drawingml/2006/main" noGrp="1"/>
          </p:cNvSpPr>
          <p:nvPr/>
        </p:nvSpPr>
        <p:spPr>
          <a:xfrm xmlns:a="http://schemas.openxmlformats.org/drawingml/2006/main">
            <a:off x="695325" y="1524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2DD"/>
                </a:solidFill>
                <a:latin typeface="Helvetica Neue"/>
                <a:ea typeface="Helvetica Neue"/>
                <a:cs typeface="Helvetica Neue"/>
              </a:defRPr>
            </a:pPr>
            <a:r>
              <a:rPr sz="2025" b="0">
                <a:solidFill>
                  <a:srgbClr val="B8C2DD"/>
                </a:solidFill>
                <a:latin typeface="Helvetica Neue"/>
                <a:ea typeface="Helvetica Neue"/>
                <a:cs typeface="Helvetica Neue"/>
              </a:rPr>
              <a:t>Start with small Python teams reviewing AI-assisted changes.</a:t>
            </a:r>
          </a:p>
        </p:txBody>
      </p:sp>
      <p:sp>
        <p:nvSpPr>
          <p:cNvPr id="3" name="">
            <a:extLst xmlns:a="http://schemas.openxmlformats.org/drawingml/2006/main">
              <a:ext uri="{FF2B5EF4-FFF2-40B4-BE49-F238E27FC236}">
                <a16:creationId xmlns:a16="http://schemas.microsoft.com/office/drawing/2014/main" id="{1BDD6639-E0DA-44FB-A171-FAE81C8277CA}"/>
              </a:ext>
            </a:extLst>
          </p:cNvPr>
          <p:cNvSpPr>
            <a:spLocks xmlns:a="http://schemas.openxmlformats.org/drawingml/2006/main" noGrp="1"/>
          </p:cNvSpPr>
          <p:nvPr/>
        </p:nvSpPr>
        <p:spPr>
          <a:xfrm xmlns:a="http://schemas.openxmlformats.org/drawingml/2006/main">
            <a:off x="695325" y="26384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EDF1FF"/>
                </a:solidFill>
                <a:latin typeface="Helvetica Neue"/>
                <a:ea typeface="Helvetica Neue"/>
                <a:cs typeface="Helvetica Neue"/>
              </a:defRPr>
            </a:pPr>
            <a:r>
              <a:rPr sz="2400" b="0">
                <a:solidFill>
                  <a:srgbClr val="EDF1FF"/>
                </a:solidFill>
                <a:latin typeface="Helvetica Neue"/>
                <a:ea typeface="Helvetica Neue"/>
                <a:cs typeface="Helvetica Neue"/>
              </a:rPr>
              <a:t>Broad market: teams adopting AI coding tools</a:t>
            </a:r>
          </a:p>
        </p:txBody>
      </p:sp>
      <p:sp>
        <p:nvSpPr>
          <p:cNvPr id="4" name="">
            <a:extLst xmlns:a="http://schemas.openxmlformats.org/drawingml/2006/main">
              <a:ext uri="{FF2B5EF4-FFF2-40B4-BE49-F238E27FC236}">
                <a16:creationId xmlns:a16="http://schemas.microsoft.com/office/drawing/2014/main" id="{25A650CF-F515-4D14-9DB7-90BC3AE9AFFC}"/>
              </a:ext>
            </a:extLst>
          </p:cNvPr>
          <p:cNvSpPr>
            <a:spLocks xmlns:a="http://schemas.openxmlformats.org/drawingml/2006/main" noGrp="1"/>
          </p:cNvSpPr>
          <p:nvPr/>
        </p:nvSpPr>
        <p:spPr>
          <a:xfrm xmlns:a="http://schemas.openxmlformats.org/drawingml/2006/main">
            <a:off x="695325" y="3381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EDF1FF"/>
                </a:solidFill>
                <a:latin typeface="Helvetica Neue"/>
                <a:ea typeface="Helvetica Neue"/>
                <a:cs typeface="Helvetica Neue"/>
              </a:defRPr>
            </a:pPr>
            <a:r>
              <a:rPr sz="2400" b="0">
                <a:solidFill>
                  <a:srgbClr val="EDF1FF"/>
                </a:solidFill>
                <a:latin typeface="Helvetica Neue"/>
                <a:ea typeface="Helvetica Neue"/>
                <a:cs typeface="Helvetica Neue"/>
              </a:rPr>
              <a:t>Initial segment: Python teams with pytest workflows</a:t>
            </a:r>
          </a:p>
        </p:txBody>
      </p:sp>
      <p:sp>
        <p:nvSpPr>
          <p:cNvPr id="5" name="">
            <a:extLst xmlns:a="http://schemas.openxmlformats.org/drawingml/2006/main">
              <a:ext uri="{FF2B5EF4-FFF2-40B4-BE49-F238E27FC236}">
                <a16:creationId xmlns:a16="http://schemas.microsoft.com/office/drawing/2014/main" id="{446BA200-B17E-4C98-88D1-C116CE48A862}"/>
              </a:ext>
            </a:extLst>
          </p:cNvPr>
          <p:cNvSpPr>
            <a:spLocks xmlns:a="http://schemas.openxmlformats.org/drawingml/2006/main" noGrp="1"/>
          </p:cNvSpPr>
          <p:nvPr/>
        </p:nvSpPr>
        <p:spPr>
          <a:xfrm xmlns:a="http://schemas.openxmlformats.org/drawingml/2006/main">
            <a:off x="695325" y="41243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9BA8FF"/>
                </a:solidFill>
                <a:latin typeface="Helvetica Neue"/>
                <a:ea typeface="Helvetica Neue"/>
                <a:cs typeface="Helvetica Neue"/>
              </a:defRPr>
            </a:pPr>
            <a:r>
              <a:rPr sz="2400" b="1">
                <a:solidFill>
                  <a:srgbClr val="9BA8FF"/>
                </a:solidFill>
                <a:latin typeface="Helvetica Neue"/>
                <a:ea typeface="Helvetica Neue"/>
                <a:cs typeface="Helvetica Neue"/>
              </a:rPr>
              <a:t>Our focus: reproducible evidence in one review package</a:t>
            </a:r>
          </a:p>
        </p:txBody>
      </p:sp>
      <p:sp>
        <p:nvSpPr>
          <p:cNvPr id="6" name="">
            <a:extLst xmlns:a="http://schemas.openxmlformats.org/drawingml/2006/main">
              <a:ext uri="{FF2B5EF4-FFF2-40B4-BE49-F238E27FC236}">
                <a16:creationId xmlns:a16="http://schemas.microsoft.com/office/drawing/2014/main" id="{67A7D566-6C1D-4C33-9D1F-C7DAC1900F5D}"/>
              </a:ext>
            </a:extLst>
          </p:cNvPr>
          <p:cNvSpPr>
            <a:spLocks xmlns:a="http://schemas.openxmlformats.org/drawingml/2006/main" noGrp="1"/>
          </p:cNvSpPr>
          <p:nvPr/>
        </p:nvSpPr>
        <p:spPr>
          <a:xfrm xmlns:a="http://schemas.openxmlformats.org/drawingml/2006/main">
            <a:off x="695325" y="4962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DF1FF"/>
                </a:solidFill>
                <a:latin typeface="Helvetica Neue"/>
                <a:ea typeface="Helvetica Neue"/>
                <a:cs typeface="Helvetica Neue"/>
              </a:defRPr>
            </a:pPr>
            <a:r>
              <a:rPr sz="2250" b="0">
                <a:solidFill>
                  <a:srgbClr val="EDF1FF"/>
                </a:solidFill>
                <a:latin typeface="Helvetica Neue"/>
                <a:ea typeface="Helvetica Neue"/>
                <a:cs typeface="Helvetica Neue"/>
              </a:rPr>
              <a:t>Pilot next: repository + CI adapters; measure review effort</a:t>
            </a:r>
          </a:p>
        </p:txBody>
      </p:sp>
      <p:sp>
        <p:nvSpPr>
          <p:cNvPr id="7" name="">
            <a:extLst xmlns:a="http://schemas.openxmlformats.org/drawingml/2006/main">
              <a:ext uri="{FF2B5EF4-FFF2-40B4-BE49-F238E27FC236}">
                <a16:creationId xmlns:a16="http://schemas.microsoft.com/office/drawing/2014/main" id="{2454CC80-0162-4CF5-9461-E2505A4F1CD8}"/>
              </a:ext>
            </a:extLst>
          </p:cNvPr>
          <p:cNvSpPr>
            <a:spLocks xmlns:a="http://schemas.openxmlformats.org/drawingml/2006/main" noGrp="1"/>
          </p:cNvSpPr>
          <p:nvPr/>
        </p:nvSpPr>
        <p:spPr>
          <a:xfrm xmlns:a="http://schemas.openxmlformats.org/drawingml/2006/main">
            <a:off x="695325" y="56959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8C2DD"/>
                </a:solidFill>
                <a:latin typeface="Helvetica Neue"/>
                <a:ea typeface="Helvetica Neue"/>
                <a:cs typeface="Helvetica Neue"/>
              </a:defRPr>
            </a:pPr>
            <a:r>
              <a:rPr sz="2250" b="0">
                <a:solidFill>
                  <a:srgbClr val="B8C2DD"/>
                </a:solidFill>
                <a:latin typeface="Helvetica Neue"/>
                <a:ea typeface="Helvetica Neue"/>
                <a:cs typeface="Helvetica Neue"/>
              </a:rPr>
              <a:t>Revenue hypothesis: hosted team history and CI reports</a:t>
            </a:r>
          </a:p>
        </p:txBody>
      </p:sp>
    </p:spTree>
    <p:extLst>
      <p:ext uri="{BB962C8B-B14F-4D97-AF65-F5344CB8AC3E}">
        <p14:creationId xmlns:p14="http://schemas.microsoft.com/office/powerpoint/2010/main" val="532599837"/>
      </p:ext>
    </p:extLst>
  </p:cSld>
</p:sld>
</file>

<file path=ppt/slides/slide8.xml><?xml version="1.0" encoding="utf-8"?>
<p:sld xmlns:p="http://schemas.openxmlformats.org/presentationml/2006/main">
  <p:cSld>
    <p:bg>
      <p:bgPr>
        <a:solidFill xmlns:a="http://schemas.openxmlformats.org/drawingml/2006/main">
          <a:srgbClr val="10131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9326B4-3675-44E4-945E-DCF0C5C4BA60}"/>
              </a:ext>
            </a:extLst>
          </p:cNvPr>
          <p:cNvSpPr>
            <a:spLocks xmlns:a="http://schemas.openxmlformats.org/drawingml/2006/main" noGrp="1"/>
          </p:cNvSpPr>
          <p:nvPr/>
        </p:nvSpPr>
        <p:spPr>
          <a:xfrm xmlns:a="http://schemas.openxmlformats.org/drawingml/2006/main">
            <a:off x="666750" y="5524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EDF1FF"/>
                </a:solidFill>
                <a:latin typeface="Helvetica Neue"/>
                <a:ea typeface="Helvetica Neue"/>
                <a:cs typeface="Helvetica Neue"/>
              </a:defRPr>
            </a:pPr>
            <a:r>
              <a:rPr sz="3825" b="1">
                <a:solidFill>
                  <a:srgbClr val="EDF1FF"/>
                </a:solidFill>
                <a:latin typeface="Helvetica Neue"/>
                <a:ea typeface="Helvetica Neue"/>
                <a:cs typeface="Helvetica Neue"/>
              </a:rPr>
              <a:t>Verify the fix. Before you ship.</a:t>
            </a:r>
          </a:p>
        </p:txBody>
      </p:sp>
      <p:sp>
        <p:nvSpPr>
          <p:cNvPr id="2" name="">
            <a:extLst xmlns:a="http://schemas.openxmlformats.org/drawingml/2006/main">
              <a:ext uri="{FF2B5EF4-FFF2-40B4-BE49-F238E27FC236}">
                <a16:creationId xmlns:a16="http://schemas.microsoft.com/office/drawing/2014/main" id="{F8C1CCAA-11D3-4717-88ED-6F5DA095F81D}"/>
              </a:ext>
            </a:extLst>
          </p:cNvPr>
          <p:cNvSpPr>
            <a:spLocks xmlns:a="http://schemas.openxmlformats.org/drawingml/2006/main" noGrp="1"/>
          </p:cNvSpPr>
          <p:nvPr/>
        </p:nvSpPr>
        <p:spPr>
          <a:xfrm xmlns:a="http://schemas.openxmlformats.org/drawingml/2006/main">
            <a:off x="695325" y="1524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2DD"/>
                </a:solidFill>
                <a:latin typeface="Helvetica Neue"/>
                <a:ea typeface="Helvetica Neue"/>
                <a:cs typeface="Helvetica Neue"/>
              </a:defRPr>
            </a:pPr>
            <a:r>
              <a:rPr sz="2025" b="0">
                <a:solidFill>
                  <a:srgbClr val="B8C2DD"/>
                </a:solidFill>
                <a:latin typeface="Helvetica Neue"/>
                <a:ea typeface="Helvetica Neue"/>
                <a:cs typeface="Helvetica Neue"/>
              </a:rPr>
              <a:t>ProofPatch connects AI-assisted repairs to evidence reviewers can check.</a:t>
            </a:r>
          </a:p>
        </p:txBody>
      </p:sp>
      <p:sp>
        <p:nvSpPr>
          <p:cNvPr id="3" name="">
            <a:extLst xmlns:a="http://schemas.openxmlformats.org/drawingml/2006/main">
              <a:ext uri="{FF2B5EF4-FFF2-40B4-BE49-F238E27FC236}">
                <a16:creationId xmlns:a16="http://schemas.microsoft.com/office/drawing/2014/main" id="{59C20A15-0E81-4F0A-B53E-3A912474717F}"/>
              </a:ext>
            </a:extLst>
          </p:cNvPr>
          <p:cNvSpPr>
            <a:spLocks xmlns:a="http://schemas.openxmlformats.org/drawingml/2006/main" noGrp="1"/>
          </p:cNvSpPr>
          <p:nvPr/>
        </p:nvSpPr>
        <p:spPr>
          <a:xfrm xmlns:a="http://schemas.openxmlformats.org/drawingml/2006/main">
            <a:off x="695325" y="2828925"/>
            <a:ext cx="10382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9BA8FF"/>
                </a:solidFill>
                <a:latin typeface="Helvetica Neue"/>
                <a:ea typeface="Helvetica Neue"/>
                <a:cs typeface="Helvetica Neue"/>
              </a:defRPr>
            </a:pPr>
            <a:r>
              <a:rPr sz="3375" b="1">
                <a:solidFill>
                  <a:srgbClr val="9BA8FF"/>
                </a:solidFill>
                <a:latin typeface="Helvetica Neue"/>
                <a:ea typeface="Helvetica Neue"/>
                <a:cs typeface="Helvetica Neue"/>
              </a:rPr>
              <a:t>Reproduce the defect. Verify the repair. Share the run.</a:t>
            </a:r>
          </a:p>
        </p:txBody>
      </p:sp>
      <p:sp>
        <p:nvSpPr>
          <p:cNvPr id="4" name="">
            <a:extLst xmlns:a="http://schemas.openxmlformats.org/drawingml/2006/main">
              <a:ext uri="{FF2B5EF4-FFF2-40B4-BE49-F238E27FC236}">
                <a16:creationId xmlns:a16="http://schemas.microsoft.com/office/drawing/2014/main" id="{4931F6FC-8347-4FD5-9B0A-81B20D49690E}"/>
              </a:ext>
            </a:extLst>
          </p:cNvPr>
          <p:cNvSpPr>
            <a:spLocks xmlns:a="http://schemas.openxmlformats.org/drawingml/2006/main" noGrp="1"/>
          </p:cNvSpPr>
          <p:nvPr/>
        </p:nvSpPr>
        <p:spPr>
          <a:xfrm xmlns:a="http://schemas.openxmlformats.org/drawingml/2006/main">
            <a:off x="695325" y="465772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EDF1FF"/>
                </a:solidFill>
                <a:latin typeface="Helvetica Neue"/>
                <a:ea typeface="Helvetica Neue"/>
                <a:cs typeface="Helvetica Neue"/>
              </a:defRPr>
            </a:pPr>
            <a:r>
              <a:rPr sz="2400" b="0">
                <a:solidFill>
                  <a:srgbClr val="EDF1FF"/>
                </a:solidFill>
                <a:latin typeface="Helvetica Neue"/>
                <a:ea typeface="Helvetica Neue"/>
                <a:cs typeface="Helvetica Neue"/>
              </a:rPr>
              <a:t>Try all three outcomes and independently rerun the evidence.</a:t>
            </a:r>
          </a:p>
        </p:txBody>
      </p:sp>
      <p:sp>
        <p:nvSpPr>
          <p:cNvPr id="5" name="">
            <a:extLst xmlns:a="http://schemas.openxmlformats.org/drawingml/2006/main">
              <a:ext uri="{FF2B5EF4-FFF2-40B4-BE49-F238E27FC236}">
                <a16:creationId xmlns:a16="http://schemas.microsoft.com/office/drawing/2014/main" id="{F0E8299C-CE7E-4043-A76D-ABC7A3495F6F}"/>
              </a:ext>
            </a:extLst>
          </p:cNvPr>
          <p:cNvSpPr>
            <a:spLocks xmlns:a="http://schemas.openxmlformats.org/drawingml/2006/main" noGrp="1"/>
          </p:cNvSpPr>
          <p:nvPr/>
        </p:nvSpPr>
        <p:spPr>
          <a:xfrm xmlns:a="http://schemas.openxmlformats.org/drawingml/2006/main">
            <a:off x="695325" y="571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8C2DD"/>
                </a:solidFill>
                <a:latin typeface="Helvetica Neue"/>
                <a:ea typeface="Helvetica Neue"/>
                <a:cs typeface="Helvetica Neue"/>
              </a:defRPr>
            </a:pPr>
            <a:r>
              <a:rPr sz="2100" b="0">
                <a:solidFill>
                  <a:srgbClr val="B8C2DD"/>
                </a:solidFill>
                <a:latin typeface="Helvetica Neue"/>
                <a:ea typeface="Helvetica Neue"/>
                <a:cs typeface="Helvetica Neue"/>
              </a:rPr>
              <a:t>github.com/aazamcs/proofpatch</a:t>
            </a:r>
          </a:p>
        </p:txBody>
      </p:sp>
    </p:spTree>
    <p:extLst>
      <p:ext uri="{BB962C8B-B14F-4D97-AF65-F5344CB8AC3E}">
        <p14:creationId xmlns:p14="http://schemas.microsoft.com/office/powerpoint/2010/main" val="20887876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2026-09-26T17:41:48.2860000Z</dcterms:created>
  <dcterms:modified xsi:type="dcterms:W3CDTF">2026-09-26T17:41:48.2860000Z</dcterms:modified>
</coreProperties>
</file>